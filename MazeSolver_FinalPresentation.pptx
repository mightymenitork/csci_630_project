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8DD680-73BC-4877-B64C-6FEADA4868E8}">
  <a:tblStyle styleId="{2F8DD680-73BC-4877-B64C-6FEADA4868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81228" autoAdjust="0"/>
  </p:normalViewPr>
  <p:slideViewPr>
    <p:cSldViewPr snapToGrid="0">
      <p:cViewPr varScale="1">
        <p:scale>
          <a:sx n="71" d="100"/>
          <a:sy n="71" d="100"/>
        </p:scale>
        <p:origin x="67" y="49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7a81a63b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7a81a63b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7aa8e5a3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7aa8e5a3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e6eaaa8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8e6eaaa8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a81a63b8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7a81a63b8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a81a63b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7a81a63b8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7a81a63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7a81a63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a81a63b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7a81a63b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7a81a63b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7a81a63b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e6eaaa8d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e6eaaa8d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8e6eaaa8d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8e6eaaa8d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8e6eaaa8d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8e6eaaa8d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7a81a63b8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7a81a63b8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7a81a63b8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7a81a63b8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7a81a63b8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7a81a63b8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7a81a63b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7a81a63b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7a81a63b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7a81a63b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a81a63b8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7a81a63b8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7a81a63b8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7a81a63b8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8e6eaaa8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8e6eaaa8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8e6eaaa8d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8e6eaaa8d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8e6eaaa8d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8e6eaaa8d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8e6eaaa8d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8e6eaaa8d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8e6eaaa8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8e6eaaa8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8e6eaaa8d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8e6eaaa8d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rgbClr val="F6B26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Optimizing Maze Exit Strategies using Search Algorithms </a:t>
            </a:r>
            <a:endParaRPr sz="4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18"/>
            <a:ext cx="8222100" cy="1657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/>
            <a:r>
              <a:rPr lang="en-GB" dirty="0"/>
              <a:t>Rochester Institute of Technology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CSCI 630: </a:t>
            </a:r>
            <a:r>
              <a:rPr lang="en-US" dirty="0"/>
              <a:t>Foundation of Artificial Intelligence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Group 3- Cazal Tirkey, Shakshi Mukeshbhai Patel, Nhlonipho Marwala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Date: 24 April 2026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1683000"/>
            <a:ext cx="9144000" cy="346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0" y="767700"/>
            <a:ext cx="9144000" cy="43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Introduction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530340" y="900924"/>
            <a:ext cx="7919519" cy="3029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Maze game where an agent must navigate from a start cell to a goal cell while avoiding walls/obstacles. The objective is to compute and visualize a path, and compare multiple algorithms by path quality, runtime, and nodes expanded.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We represent the maze as a graph: Node/state, edges, cost/weight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Algorithms</a:t>
            </a: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: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AutoNum type="arabicPeriod"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DFS (Depth-First Search)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AutoNum type="arabicPeriod"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BFS (Breadth-First Search)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AutoNum type="arabicPeriod"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Uniform Cost Search (Dijkstra’s Algorithm)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AutoNum type="arabicPeriod"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Greedy Algorithm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AutoNum type="arabicPeriod"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A* Search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AutoNum type="arabicPeriod"/>
            </a:pPr>
            <a:r>
              <a:rPr lang="en-GB" sz="1600" dirty="0">
                <a:solidFill>
                  <a:srgbClr val="1F2328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Genetic Algorithm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863" y="2640107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Types of maps used to evaluate</a:t>
            </a:r>
            <a:endParaRPr dirty="0"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600" b="1" dirty="0"/>
              <a:t>Spiral Maps:</a:t>
            </a:r>
            <a:r>
              <a:rPr lang="en-GB" sz="1600" dirty="0"/>
              <a:t> designed with one possible solution to test the running limits of each algorithm. 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600" b="1" dirty="0"/>
              <a:t>Labyrinth Maps:</a:t>
            </a:r>
            <a:r>
              <a:rPr lang="en-GB" sz="1600" dirty="0"/>
              <a:t> made to accommodate multiple solution path of different length and dead ends to test whether algorithms could run over simple mazes</a:t>
            </a:r>
            <a:endParaRPr sz="1600" dirty="0"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600" b="1" dirty="0"/>
              <a:t>Empty Maps: </a:t>
            </a:r>
            <a:r>
              <a:rPr lang="en-GB" sz="1600" dirty="0"/>
              <a:t>made to test the memory limits of the application, have the source and destination in open space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600" b="1" dirty="0"/>
              <a:t>Map Sizes: </a:t>
            </a:r>
            <a:r>
              <a:rPr lang="en-GB" sz="1600" dirty="0"/>
              <a:t>constructed the maps to the upper limit of 20x20 map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901539"/>
            <a:ext cx="9144000" cy="42419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460950" y="133839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Depth First Search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86050" y="1110324"/>
            <a:ext cx="3999900" cy="3131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Encoding: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each maze cell is a state represented as (row, col).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Frontier: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DFS uses a stack, so the most recently discovered state is expanded first.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Search behaviour: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explores one branch deeply before backtracking.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Cycle handling: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uses a visited set so the same state is not expanded again</a:t>
            </a: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.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Tracked results: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path, cost, path length, expanded nodes, expanded count, and runtime.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4572000" y="1346718"/>
            <a:ext cx="3999900" cy="28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9482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Map Types: Empty, Spiral, Simple Labyrinth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9482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Sizes: 5x5, 10x10,20x20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9482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Strength: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Usually needs less memory and can find a solution quickly by going deep along one branch.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9482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Limitation: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Not optimal, because it may return a longer path even when a shorter one exists.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Depth First Search Solution Paths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13" y="2433138"/>
            <a:ext cx="2738416" cy="24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793" y="2433138"/>
            <a:ext cx="2738413" cy="2425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573" y="2433138"/>
            <a:ext cx="2738414" cy="24290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28202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Spiral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202800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Labyrinth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612357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Empty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6">
            <a:alphaModFix/>
          </a:blip>
          <a:srcRect l="4953" r="10244"/>
          <a:stretch/>
        </p:blipFill>
        <p:spPr>
          <a:xfrm>
            <a:off x="6123575" y="2391825"/>
            <a:ext cx="2793524" cy="25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2800" y="2391825"/>
            <a:ext cx="2738400" cy="24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025" y="2433150"/>
            <a:ext cx="2738400" cy="24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Depth First Search Performance Metrics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0" y="1684250"/>
            <a:ext cx="9120900" cy="34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3" name="Google Shape;113;p18"/>
          <p:cNvGraphicFramePr/>
          <p:nvPr>
            <p:extLst>
              <p:ext uri="{D42A27DB-BD31-4B8C-83A1-F6EECF244321}">
                <p14:modId xmlns:p14="http://schemas.microsoft.com/office/powerpoint/2010/main" val="165443343"/>
              </p:ext>
            </p:extLst>
          </p:nvPr>
        </p:nvGraphicFramePr>
        <p:xfrm>
          <a:off x="1409825" y="1938800"/>
          <a:ext cx="6301250" cy="3004937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99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size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Path length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Cost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Time(s)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Expanded Nodes count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Empty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</a:t>
                      </a: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.000110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75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74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0.000395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Labyrinth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0.000108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43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0.000173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78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Spiral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0.000129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0.000087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0" y="940279"/>
            <a:ext cx="9144000" cy="4203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572100" y="100371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Breadth First Search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298775" y="1000664"/>
            <a:ext cx="4145725" cy="3711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Encoding: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Each maze cell is a state represented as (row, col).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Frontier: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BFS uses a queue (FIFO), so the earliest discovered state is expanded first.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Search behaviour: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Explores level by level. It checks all neighbours at the current depth before going deeper.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Cycle handling: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Uses a visited set so the same state is not expanded again.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Tracked results: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path, cost, path length, expanded nodes, expanded count, and runtime.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794300" y="1160850"/>
            <a:ext cx="3999900" cy="28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9959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Map Types: Empty, Spiral, Simple Labyrinth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09959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Sizes: 5x5, 10x10,20x20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09959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Strength: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Always finds the shortest path (fewest steps). Complete - guaranteed to find a solution if one exists.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09959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Limitation: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Uses a lot of memory because it stores all nodes at each level.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0" y="1711475"/>
            <a:ext cx="9144000" cy="3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Breadth First Search Solution Paths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76063" y="2010075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Spiral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3211138" y="2010075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Labyrinth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029538" y="2010075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Empty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875" y="2442975"/>
            <a:ext cx="2403825" cy="239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9537" y="2439338"/>
            <a:ext cx="2399981" cy="240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063" y="2439338"/>
            <a:ext cx="2399981" cy="24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Breadth First Search Performance Metrics</a:t>
            </a:r>
          </a:p>
        </p:txBody>
      </p:sp>
      <p:sp>
        <p:nvSpPr>
          <p:cNvPr id="139" name="Google Shape;139;p21"/>
          <p:cNvSpPr/>
          <p:nvPr/>
        </p:nvSpPr>
        <p:spPr>
          <a:xfrm>
            <a:off x="0" y="1684250"/>
            <a:ext cx="9120900" cy="34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0" name="Google Shape;140;p21"/>
          <p:cNvGraphicFramePr/>
          <p:nvPr>
            <p:extLst>
              <p:ext uri="{D42A27DB-BD31-4B8C-83A1-F6EECF244321}">
                <p14:modId xmlns:p14="http://schemas.microsoft.com/office/powerpoint/2010/main" val="1087374416"/>
              </p:ext>
            </p:extLst>
          </p:nvPr>
        </p:nvGraphicFramePr>
        <p:xfrm>
          <a:off x="1409825" y="1938800"/>
          <a:ext cx="6301250" cy="3004937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99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Type</a:t>
                      </a:r>
                      <a:endParaRPr sz="14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size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Path length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Cost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Time(s)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Expanded Nodes count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Empty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</a:t>
                      </a: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.000093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0.000247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Labyrinth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0.000103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0.000212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Spiral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0.000066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0.000246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54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0" y="1143000"/>
            <a:ext cx="9144000" cy="40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657637" y="1958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Uniform Cost Search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250092" y="1294212"/>
            <a:ext cx="4321908" cy="3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Encoding: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Each maze cell is a state represented as (row, col)</a:t>
            </a:r>
          </a:p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Frontier: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Uses a priority queue. States are ordered by their path cost g(n), meaning the state with the lowest cumulative cost is expanded first.</a:t>
            </a:r>
          </a:p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Search </a:t>
            </a:r>
            <a:r>
              <a:rPr lang="en-GB" sz="16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Behavior</a:t>
            </a: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Explores the maze in concentric "cost" waves. It doesn't care about depth; it cares about value. It expands all paths that are cheaper than the optimal solution before it finally reaches the goal.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4822092" y="1732350"/>
            <a:ext cx="3999900" cy="28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Cycle Handling: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Uses a visited set (or "closed list") to keep track of the minimum cost to reach each state. If a state is reached again via a more expensive path, it is ignored.</a:t>
            </a:r>
          </a:p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30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Tracked Results: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Path, cost (crucial here), path length, expanded nodes, expanded count, and runtime.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0" y="1684250"/>
            <a:ext cx="9120900" cy="34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Uniform Cost Search Performance Metrics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graphicFrame>
        <p:nvGraphicFramePr>
          <p:cNvPr id="155" name="Google Shape;155;p23"/>
          <p:cNvGraphicFramePr/>
          <p:nvPr>
            <p:extLst>
              <p:ext uri="{D42A27DB-BD31-4B8C-83A1-F6EECF244321}">
                <p14:modId xmlns:p14="http://schemas.microsoft.com/office/powerpoint/2010/main" val="1442994647"/>
              </p:ext>
            </p:extLst>
          </p:nvPr>
        </p:nvGraphicFramePr>
        <p:xfrm>
          <a:off x="1432325" y="1938808"/>
          <a:ext cx="6301250" cy="3004937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99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Type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size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Path length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Cost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Time(s)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Expanded Node Count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Empty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0.000058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0.000159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Labyrinth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0.000057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0.000140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Spiral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0.000051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0.000093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60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Uniform Cost Search Solution Paths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13" y="2433138"/>
            <a:ext cx="2738416" cy="24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793" y="2433138"/>
            <a:ext cx="2738413" cy="2425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573" y="2433138"/>
            <a:ext cx="2738414" cy="242908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28202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Spiral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3202800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Labyrinth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612357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Empty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025" y="2445525"/>
            <a:ext cx="2738401" cy="243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2800" y="2447585"/>
            <a:ext cx="2738400" cy="2435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021" y="2447571"/>
            <a:ext cx="2738400" cy="2434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 rotWithShape="1">
          <a:blip r:embed="rId9">
            <a:alphaModFix/>
          </a:blip>
          <a:srcRect t="1078"/>
          <a:stretch/>
        </p:blipFill>
        <p:spPr>
          <a:xfrm>
            <a:off x="6123575" y="2447575"/>
            <a:ext cx="2738400" cy="243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23575" y="2447575"/>
            <a:ext cx="2738400" cy="2431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0" y="859444"/>
            <a:ext cx="9144000" cy="41945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460950" y="91744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Greedy Best First Search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78" name="Google Shape;178;p25"/>
          <p:cNvSpPr txBox="1">
            <a:spLocks noGrp="1"/>
          </p:cNvSpPr>
          <p:nvPr>
            <p:ph type="body" idx="1"/>
          </p:nvPr>
        </p:nvSpPr>
        <p:spPr>
          <a:xfrm>
            <a:off x="91350" y="923700"/>
            <a:ext cx="4389300" cy="31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Encoding: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each maze cell is a state represented as (row, col).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Frontier: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Greedy BFS always chooses the state with the lowest heuristic value.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Evaluation Function: f(n) = h(n).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Heuristic Used: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We use Manhattan distance to estimate how close the current cell is to the goal.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Search style: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It tries to move toward the goal as quickly as possible based on the heuristic.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Cycle handling: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Our implementation uses a visited set, so the same state is not expanded again.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49238" algn="l" rtl="0">
              <a:spcBef>
                <a:spcPts val="1200"/>
              </a:spcBef>
              <a:spcAft>
                <a:spcPts val="0"/>
              </a:spcAft>
              <a:buSzPct val="100000"/>
              <a:buFont typeface="Poppins"/>
              <a:buChar char="●"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body" idx="1"/>
          </p:nvPr>
        </p:nvSpPr>
        <p:spPr>
          <a:xfrm>
            <a:off x="4968815" y="1160850"/>
            <a:ext cx="3999900" cy="28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Map Types: Empty, Spiral, Simple Labyrinth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Sizes: 5x5, 10x10,</a:t>
            </a: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20x20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Output recorded: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path, cost, path length, expanded nodes, and expanded count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Strength: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Usually expands fewer nodes and can reach the goal quickly.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Limitation: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Not optimal, because it only considers h(n) and ignores the path cost already travelled.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B26B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Greedy Best First Search </a:t>
            </a:r>
            <a:r>
              <a:rPr lang="en-GB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Solution Paths</a:t>
            </a:r>
            <a:r>
              <a:rPr lang="en-GB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13" y="2433138"/>
            <a:ext cx="2738416" cy="24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793" y="2433138"/>
            <a:ext cx="2738413" cy="2425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573" y="2433138"/>
            <a:ext cx="2738414" cy="2429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28202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Spiral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3202800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Labyrinth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612357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Empty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2800" y="2433150"/>
            <a:ext cx="2738400" cy="24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3575" y="2433150"/>
            <a:ext cx="2794450" cy="24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025" y="2445525"/>
            <a:ext cx="2738401" cy="24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310500" y="697325"/>
            <a:ext cx="84999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Greedy Best First Search Performance Metrics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0" y="1684250"/>
            <a:ext cx="9120900" cy="34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0" name="Google Shape;200;p27"/>
          <p:cNvGraphicFramePr/>
          <p:nvPr>
            <p:extLst>
              <p:ext uri="{D42A27DB-BD31-4B8C-83A1-F6EECF244321}">
                <p14:modId xmlns:p14="http://schemas.microsoft.com/office/powerpoint/2010/main" val="3796006777"/>
              </p:ext>
            </p:extLst>
          </p:nvPr>
        </p:nvGraphicFramePr>
        <p:xfrm>
          <a:off x="1421375" y="1938800"/>
          <a:ext cx="6301250" cy="3072628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99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Type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size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Path length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Cost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Time(s)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Expanded Nodes count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Empty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</a:t>
                      </a: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.000096 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14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0.000214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Labyrinth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0.000140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12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6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18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0.000151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25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Spiral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16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0.000132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6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44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0.000165</a:t>
                      </a:r>
                      <a:endParaRPr sz="16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6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0" y="761608"/>
            <a:ext cx="9144000" cy="43818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364732" y="30784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A* search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07" name="Google Shape;207;p28"/>
          <p:cNvSpPr txBox="1">
            <a:spLocks noGrp="1"/>
          </p:cNvSpPr>
          <p:nvPr>
            <p:ph type="body" idx="1"/>
          </p:nvPr>
        </p:nvSpPr>
        <p:spPr>
          <a:xfrm>
            <a:off x="50800" y="913742"/>
            <a:ext cx="5422300" cy="3316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Encoding: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Each maze cell is a state represented as (row, col).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Frontier: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A* uses a priority queue. States are ordered by f(n) = g(n) + h(n).</a:t>
            </a:r>
            <a:b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</a:b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g(n) = actual cost from start to current node</a:t>
            </a:r>
            <a:b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</a:b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h(n) = estimated cost to goal (Manhattan distance)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Search </a:t>
            </a:r>
            <a:r>
              <a:rPr lang="en-GB" sz="16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behavior</a:t>
            </a: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Expands the node with the lowest f-value first. Combines what it knows (g) with what it estimates (h) to find the goal efficiently.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Cycle handling: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Tracks the best cost to reach each state. Only keeps the path if it found a cheaper way to get there.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Tracked results: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path, cost, path length, expanded nodes, expanded count, and runtime. 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1"/>
          </p:nvPr>
        </p:nvSpPr>
        <p:spPr>
          <a:xfrm>
            <a:off x="5728676" y="1160849"/>
            <a:ext cx="3415324" cy="28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0196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Map Types: Empty, Spiral, Simple Labyrinth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00196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Sizes: 5x5, 10x10,20x20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00196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Strength: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Optimal and usually expands fewer nodes than BFS by using the heuristic to focus the search toward the goal.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00196" algn="l" rtl="0">
              <a:spcBef>
                <a:spcPts val="0"/>
              </a:spcBef>
              <a:spcAft>
                <a:spcPts val="0"/>
              </a:spcAft>
              <a:buSzPct val="1000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Limitation: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Still uses a lot of memory like BFS. Depends on having a good heuristic.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A* Search Solution Paths</a:t>
            </a:r>
            <a:r>
              <a:rPr lang="en-GB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13" y="2433138"/>
            <a:ext cx="2738416" cy="24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/>
        </p:nvSpPr>
        <p:spPr>
          <a:xfrm>
            <a:off x="28202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Spiral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3202800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Labyrinth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612357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Empty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025" y="2433150"/>
            <a:ext cx="2738400" cy="24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0075" y="2404513"/>
            <a:ext cx="2485393" cy="24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9299" y="2407363"/>
            <a:ext cx="2485400" cy="2491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A* Performance Metrics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0" y="1684250"/>
            <a:ext cx="9120900" cy="34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7" name="Google Shape;227;p30"/>
          <p:cNvGraphicFramePr/>
          <p:nvPr>
            <p:extLst>
              <p:ext uri="{D42A27DB-BD31-4B8C-83A1-F6EECF244321}">
                <p14:modId xmlns:p14="http://schemas.microsoft.com/office/powerpoint/2010/main" val="3987166011"/>
              </p:ext>
            </p:extLst>
          </p:nvPr>
        </p:nvGraphicFramePr>
        <p:xfrm>
          <a:off x="1409825" y="1938800"/>
          <a:ext cx="6301250" cy="2937246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99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Type</a:t>
                      </a:r>
                      <a:endParaRPr sz="12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size</a:t>
                      </a:r>
                      <a:endParaRPr sz="12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Path length</a:t>
                      </a:r>
                      <a:endParaRPr sz="12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Cost</a:t>
                      </a:r>
                      <a:endParaRPr sz="12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Time(s)</a:t>
                      </a:r>
                      <a:endParaRPr sz="12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Expanded Nodes count</a:t>
                      </a:r>
                      <a:endParaRPr sz="12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Empty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</a:t>
                      </a: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.000128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25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14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0.000298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64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Labyrinth</a:t>
                      </a:r>
                      <a:endParaRPr sz="10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0.000114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18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0.000235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54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Spiral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16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15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0.000090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19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0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44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0.000171</a:t>
                      </a:r>
                      <a:endParaRPr sz="1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45</a:t>
                      </a:r>
                      <a:endParaRPr sz="10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/>
          <p:nvPr/>
        </p:nvSpPr>
        <p:spPr>
          <a:xfrm>
            <a:off x="0" y="1683000"/>
            <a:ext cx="9144000" cy="346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__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Genetic Algorithm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34" name="Google Shape;234;p31"/>
          <p:cNvSpPr txBox="1">
            <a:spLocks noGrp="1"/>
          </p:cNvSpPr>
          <p:nvPr>
            <p:ph type="body" idx="1"/>
          </p:nvPr>
        </p:nvSpPr>
        <p:spPr>
          <a:xfrm>
            <a:off x="572100" y="1696025"/>
            <a:ext cx="39999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Encoding: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grpSp>
        <p:nvGrpSpPr>
          <p:cNvPr id="235" name="Google Shape;235;p31"/>
          <p:cNvGrpSpPr/>
          <p:nvPr/>
        </p:nvGrpSpPr>
        <p:grpSpPr>
          <a:xfrm>
            <a:off x="1070495" y="2147430"/>
            <a:ext cx="3328976" cy="1672257"/>
            <a:chOff x="575175" y="2298400"/>
            <a:chExt cx="3158299" cy="1493953"/>
          </a:xfrm>
        </p:grpSpPr>
        <p:pic>
          <p:nvPicPr>
            <p:cNvPr id="236" name="Google Shape;236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5175" y="2298400"/>
              <a:ext cx="3158299" cy="22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5175" y="2559553"/>
              <a:ext cx="782800" cy="12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31"/>
          <p:cNvSpPr txBox="1">
            <a:spLocks noGrp="1"/>
          </p:cNvSpPr>
          <p:nvPr>
            <p:ph type="body" idx="1"/>
          </p:nvPr>
        </p:nvSpPr>
        <p:spPr>
          <a:xfrm>
            <a:off x="572100" y="3907975"/>
            <a:ext cx="3999900" cy="9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Selection: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Truncation Selection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Crossover: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Two Point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Mutation rate: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30%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4814358" y="1924925"/>
            <a:ext cx="3999900" cy="28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Map Types: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Empty, Spiral, Simple Labyrinth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Sizes: 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5x5, 10x10</a:t>
            </a: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Sample: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 15 runs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Test Iteration Range </a:t>
            </a:r>
            <a:r>
              <a:rPr lang="en-GB" sz="16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Range</a:t>
            </a:r>
            <a:r>
              <a:rPr lang="en-GB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: 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240" name="Google Shape;24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1289" y="3507999"/>
            <a:ext cx="1604733" cy="21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2985477" y="0"/>
            <a:ext cx="6158523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-1" y="0"/>
            <a:ext cx="3779527" cy="51435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491941" y="1894656"/>
            <a:ext cx="2930769" cy="13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Fitness Function</a:t>
            </a:r>
            <a:endParaRPr lang="en-GB" sz="3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102" y="2277431"/>
            <a:ext cx="3999900" cy="67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133" y="2911570"/>
            <a:ext cx="1454686" cy="6745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32"/>
          <p:cNvGraphicFramePr/>
          <p:nvPr>
            <p:extLst>
              <p:ext uri="{D42A27DB-BD31-4B8C-83A1-F6EECF244321}">
                <p14:modId xmlns:p14="http://schemas.microsoft.com/office/powerpoint/2010/main" val="3114830180"/>
              </p:ext>
            </p:extLst>
          </p:nvPr>
        </p:nvGraphicFramePr>
        <p:xfrm>
          <a:off x="3968656" y="3545300"/>
          <a:ext cx="5020596" cy="1598200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3368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Version</a:t>
                      </a:r>
                      <a:endParaRPr sz="1200" b="1">
                        <a:solidFill>
                          <a:srgbClr val="FFFFFF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Effectiveness</a:t>
                      </a:r>
                      <a:endParaRPr sz="1200" b="1">
                        <a:solidFill>
                          <a:srgbClr val="FFFFFF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9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V1 (</a:t>
                      </a:r>
                      <a:r>
                        <a:rPr lang="en-GB" sz="1200" dirty="0" err="1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Dist</a:t>
                      </a:r>
                      <a:r>
                        <a:rPr lang="en-GB" sz="1200" dirty="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 + Success)</a:t>
                      </a:r>
                      <a:endParaRPr sz="1200" dirty="0">
                        <a:solidFill>
                          <a:srgbClr val="434343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36.67%</a:t>
                      </a:r>
                      <a:endParaRPr sz="1200">
                        <a:solidFill>
                          <a:srgbClr val="434343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V2 (Dist + Success + Survival)</a:t>
                      </a:r>
                      <a:endParaRPr sz="1200" dirty="0">
                        <a:solidFill>
                          <a:srgbClr val="434343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46.67%</a:t>
                      </a:r>
                      <a:endParaRPr sz="1200">
                        <a:solidFill>
                          <a:srgbClr val="434343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V3 (</a:t>
                      </a:r>
                      <a:r>
                        <a:rPr lang="en-GB" sz="1200" dirty="0" err="1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Dist</a:t>
                      </a:r>
                      <a:r>
                        <a:rPr lang="en-GB" sz="1200" dirty="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 + Success + Survival + Curiosity)</a:t>
                      </a:r>
                      <a:endParaRPr sz="1200" dirty="0">
                        <a:solidFill>
                          <a:srgbClr val="434343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43434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60.00%</a:t>
                      </a:r>
                      <a:endParaRPr sz="1200" dirty="0">
                        <a:solidFill>
                          <a:srgbClr val="434343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1" name="Google Shape;251;p32"/>
          <p:cNvSpPr txBox="1"/>
          <p:nvPr/>
        </p:nvSpPr>
        <p:spPr>
          <a:xfrm>
            <a:off x="5247675" y="371000"/>
            <a:ext cx="8670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8217" y="89738"/>
            <a:ext cx="4831671" cy="2268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Genetic Algorithm </a:t>
            </a:r>
            <a:r>
              <a:rPr lang="en-GB" dirty="0"/>
              <a:t>Solution Paths 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793" y="2433138"/>
            <a:ext cx="2738413" cy="2425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573" y="2433138"/>
            <a:ext cx="2738414" cy="242908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/>
        </p:nvSpPr>
        <p:spPr>
          <a:xfrm>
            <a:off x="28202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Spiral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3202800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Labyrinth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6123575" y="2000250"/>
            <a:ext cx="2738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Empty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574" y="2433149"/>
            <a:ext cx="2699659" cy="24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2800" y="2433150"/>
            <a:ext cx="2699650" cy="241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2028" y="3004553"/>
            <a:ext cx="2738400" cy="127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dirty="0"/>
              <a:t>Genetic Algorithm Performance Metrics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71" name="Google Shape;271;p34"/>
          <p:cNvGraphicFramePr/>
          <p:nvPr>
            <p:extLst>
              <p:ext uri="{D42A27DB-BD31-4B8C-83A1-F6EECF244321}">
                <p14:modId xmlns:p14="http://schemas.microsoft.com/office/powerpoint/2010/main" val="1899692291"/>
              </p:ext>
            </p:extLst>
          </p:nvPr>
        </p:nvGraphicFramePr>
        <p:xfrm>
          <a:off x="131300" y="2005875"/>
          <a:ext cx="8881400" cy="2908500"/>
        </p:xfrm>
        <a:graphic>
          <a:graphicData uri="http://schemas.openxmlformats.org/drawingml/2006/table">
            <a:tbl>
              <a:tblPr>
                <a:noFill/>
                <a:tableStyleId>{2F8DD680-73BC-4877-B64C-6FEADA4868E8}</a:tableStyleId>
              </a:tblPr>
              <a:tblGrid>
                <a:gridCol w="111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0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Type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Map size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Iteration Cap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Success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Avg Cost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Avg Time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Best Length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Best Time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Empty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500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100.00%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9.6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0.002519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0.00258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500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100.00%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29.4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0.007756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0.007312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Labyrinth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500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100.00%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13.2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0.011402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11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0.006632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500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60.00%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0.515621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40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0.073164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Spiral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5x5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100000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0.00%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nul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120.224116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nul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nul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10x10</a:t>
                      </a:r>
                      <a:endParaRPr sz="140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100000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0.00%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nul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227.224116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nul</a:t>
                      </a:r>
                      <a:endParaRPr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"/>
                        </a:rPr>
                        <a:t>nul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Poppi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650" y="806625"/>
            <a:ext cx="6686700" cy="41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/>
          <p:nvPr/>
        </p:nvSpPr>
        <p:spPr>
          <a:xfrm>
            <a:off x="0" y="0"/>
            <a:ext cx="9144000" cy="12699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6272750" y="549200"/>
            <a:ext cx="2805900" cy="1119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Genetic Algorithm was an outlier in test of time so they are not included</a:t>
            </a:r>
            <a:endParaRPr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287306" y="265633"/>
            <a:ext cx="4572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Time Comparison</a:t>
            </a:r>
            <a:endParaRPr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686491" y="845240"/>
            <a:ext cx="48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the Labyrinth Map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/>
          <p:nvPr/>
        </p:nvSpPr>
        <p:spPr>
          <a:xfrm>
            <a:off x="0" y="0"/>
            <a:ext cx="9144000" cy="12699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6" name="Google Shape;286;p3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175" y="1574700"/>
            <a:ext cx="5771643" cy="35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/>
          <p:nvPr/>
        </p:nvSpPr>
        <p:spPr>
          <a:xfrm>
            <a:off x="6203425" y="922475"/>
            <a:ext cx="2805900" cy="1119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For the same reason its  expanded node count is not measured</a:t>
            </a:r>
            <a:endParaRPr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465686" y="265500"/>
            <a:ext cx="7959298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Expanded Node Count Comparison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818564" y="845706"/>
            <a:ext cx="48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the Labyrinth Map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74" y="1900500"/>
            <a:ext cx="5215626" cy="32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/>
          <p:nvPr/>
        </p:nvSpPr>
        <p:spPr>
          <a:xfrm>
            <a:off x="0" y="0"/>
            <a:ext cx="9144000" cy="170585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6326" y="580800"/>
            <a:ext cx="6491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/>
              </a:rPr>
              <a:t>Path Length Comparison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5490200" y="2003675"/>
            <a:ext cx="3653700" cy="24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n-GB" sz="1600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Genetic algorithm failed in more complex maps but performed similarly to a DFS in terms of cost</a:t>
            </a: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n-GB" sz="1600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Shortest path algorithms consistent performed the best of all map sizes</a:t>
            </a: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8D08-2329-15A3-DD49-23985F43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58" y="217241"/>
            <a:ext cx="8222100" cy="767700"/>
          </a:xfrm>
        </p:spPr>
        <p:txBody>
          <a:bodyPr/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CB4DD-5CF1-DF07-0C99-2AB300949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76" y="1281925"/>
            <a:ext cx="4378015" cy="2710200"/>
          </a:xfrm>
        </p:spPr>
        <p:txBody>
          <a:bodyPr>
            <a:noAutofit/>
          </a:bodyPr>
          <a:lstStyle/>
          <a:p>
            <a:pPr marL="139700" indent="0">
              <a:buNone/>
            </a:pPr>
            <a:r>
              <a:rPr lang="en-US" b="1" dirty="0"/>
              <a:t>LIMITATIONS: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Scale</a:t>
            </a:r>
            <a:r>
              <a:rPr lang="en-US" dirty="0"/>
              <a:t>: Maximum 20x20 mazes tested; larger grids (100x100+) not evaluated</a:t>
            </a:r>
          </a:p>
          <a:p>
            <a:r>
              <a:rPr lang="en-US" b="1" dirty="0"/>
              <a:t>Static Environment</a:t>
            </a:r>
            <a:r>
              <a:rPr lang="en-US" dirty="0"/>
              <a:t>: No dynamic obstacles or real-time maze changes</a:t>
            </a:r>
          </a:p>
          <a:p>
            <a:r>
              <a:rPr lang="en-US" b="1" dirty="0"/>
              <a:t>Simple Costs</a:t>
            </a:r>
            <a:r>
              <a:rPr lang="en-US" dirty="0"/>
              <a:t>: Uniform edge weights (cost=1); no varied terrain difficulty</a:t>
            </a:r>
          </a:p>
          <a:p>
            <a:r>
              <a:rPr lang="en-US" b="1" dirty="0"/>
              <a:t>GA Instability</a:t>
            </a:r>
            <a:r>
              <a:rPr lang="en-US" dirty="0"/>
              <a:t>: Genetic algorithm failed on spiral mazes (0% success), required 500+ iterations</a:t>
            </a:r>
          </a:p>
          <a:p>
            <a:r>
              <a:rPr lang="en-US" b="1" dirty="0"/>
              <a:t>Single Heuristic</a:t>
            </a:r>
            <a:r>
              <a:rPr lang="en-US" dirty="0"/>
              <a:t>: Only Manhattan distance tested; no comparison with Euclidean or custom heuristics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5DBCA-40C0-9D47-E67C-A0C87014E16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26711" y="1281924"/>
            <a:ext cx="4310473" cy="3861575"/>
          </a:xfrm>
        </p:spPr>
        <p:txBody>
          <a:bodyPr>
            <a:noAutofit/>
          </a:bodyPr>
          <a:lstStyle/>
          <a:p>
            <a:pPr marL="139700" indent="0">
              <a:buNone/>
            </a:pPr>
            <a:r>
              <a:rPr lang="en-US" b="1" dirty="0"/>
              <a:t>FUTURE WORK: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Test scalability on larger mazes (50x50, 100x100) and measure memory consumption</a:t>
            </a:r>
          </a:p>
          <a:p>
            <a:r>
              <a:rPr lang="en-US" dirty="0"/>
              <a:t>Explore hybrid algorithms combining Greedy's efficiency with A*'s optimality </a:t>
            </a:r>
          </a:p>
          <a:p>
            <a:r>
              <a:rPr lang="en-US" dirty="0"/>
              <a:t>Improve Genetic Algorithm fitness function for complex maze success </a:t>
            </a:r>
          </a:p>
          <a:p>
            <a:r>
              <a:rPr lang="en-US" dirty="0"/>
              <a:t>Apply to real-world scenarios: warehouse robots, game AI, emergency evacuation planning </a:t>
            </a:r>
          </a:p>
          <a:p>
            <a:r>
              <a:rPr lang="en-US" dirty="0"/>
              <a:t>Test bidirectional search (simultaneous search from start and goal)</a:t>
            </a:r>
          </a:p>
        </p:txBody>
      </p:sp>
    </p:spTree>
    <p:extLst>
      <p:ext uri="{BB962C8B-B14F-4D97-AF65-F5344CB8AC3E}">
        <p14:creationId xmlns:p14="http://schemas.microsoft.com/office/powerpoint/2010/main" val="367581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AD37-F411-066C-C660-0C1EBC04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1D93F-D3A4-F0E4-07C1-25D42E1FA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139700" indent="0">
              <a:buNone/>
            </a:pPr>
            <a:r>
              <a:rPr lang="en-US" b="1" dirty="0"/>
              <a:t>We would like to thank:</a:t>
            </a:r>
          </a:p>
          <a:p>
            <a:r>
              <a:rPr lang="en-US" dirty="0"/>
              <a:t>Professor Suresh Pokharel for guidance throughout this project and valuable feedback on our algorithm implementations.</a:t>
            </a:r>
          </a:p>
          <a:p>
            <a:endParaRPr lang="en-US" dirty="0"/>
          </a:p>
          <a:p>
            <a:pPr marL="139700" indent="0">
              <a:buNone/>
            </a:pPr>
            <a:r>
              <a:rPr lang="en-US" b="1" dirty="0"/>
              <a:t>Team Contributions:</a:t>
            </a:r>
            <a:endParaRPr lang="en-US" dirty="0"/>
          </a:p>
          <a:p>
            <a:r>
              <a:rPr lang="en-US" dirty="0"/>
              <a:t>Cazal Tirkey: BFS &amp; A* implementation</a:t>
            </a:r>
          </a:p>
          <a:p>
            <a:r>
              <a:rPr lang="en-US" dirty="0"/>
              <a:t>Nhlonipho Marwala: UCS &amp; Genetic Algorithm</a:t>
            </a:r>
          </a:p>
          <a:p>
            <a:r>
              <a:rPr lang="en-US" dirty="0"/>
              <a:t>Shakshi Mukeshbhai Patel: DFS &amp; Greedy Best-First Search</a:t>
            </a:r>
          </a:p>
          <a:p>
            <a:pPr marL="1397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1B91B-7742-85E4-CB1B-671D0219020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References:</a:t>
            </a:r>
            <a:endParaRPr lang="en-US" dirty="0"/>
          </a:p>
          <a:p>
            <a:r>
              <a:rPr lang="en-US" dirty="0"/>
              <a:t>Russell &amp; Norvig's "Artificial Intelligence: A Modern Approach" - our primary textbook for understanding search algorithms</a:t>
            </a:r>
          </a:p>
          <a:p>
            <a:r>
              <a:rPr lang="en-US" dirty="0"/>
              <a:t>Hart, Nilsson &amp; Raphael's foundational paper on A* search (1968)</a:t>
            </a:r>
          </a:p>
          <a:p>
            <a:r>
              <a:rPr lang="en-US" dirty="0"/>
              <a:t>Various online resources and research papers on genetic algorithms for pathfinding</a:t>
            </a:r>
          </a:p>
        </p:txBody>
      </p:sp>
    </p:spTree>
    <p:extLst>
      <p:ext uri="{BB962C8B-B14F-4D97-AF65-F5344CB8AC3E}">
        <p14:creationId xmlns:p14="http://schemas.microsoft.com/office/powerpoint/2010/main" val="331506340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1789</Words>
  <Application>Microsoft Office PowerPoint</Application>
  <PresentationFormat>On-screen Show (16:9)</PresentationFormat>
  <Paragraphs>421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Poppins</vt:lpstr>
      <vt:lpstr>Roboto</vt:lpstr>
      <vt:lpstr>Material</vt:lpstr>
      <vt:lpstr>Optimizing Maze Exit Strategies using Search Algorithms </vt:lpstr>
      <vt:lpstr>Introduction</vt:lpstr>
      <vt:lpstr>Types of maps used to evaluate</vt:lpstr>
      <vt:lpstr>Depth First Search</vt:lpstr>
      <vt:lpstr>Depth First Search Solution Paths</vt:lpstr>
      <vt:lpstr>Depth First Search Performance Metrics </vt:lpstr>
      <vt:lpstr>Breadth First Search</vt:lpstr>
      <vt:lpstr>Breadth First Search Solution Paths</vt:lpstr>
      <vt:lpstr>Breadth First Search Performance Metrics</vt:lpstr>
      <vt:lpstr>Uniform Cost Search</vt:lpstr>
      <vt:lpstr>Uniform Cost Search Performance Metrics</vt:lpstr>
      <vt:lpstr>Uniform Cost Search Solution Paths</vt:lpstr>
      <vt:lpstr>Greedy Best First Search</vt:lpstr>
      <vt:lpstr>Greedy Best First Search Solution Paths </vt:lpstr>
      <vt:lpstr>Greedy Best First Search Performance Metrics</vt:lpstr>
      <vt:lpstr>A* search</vt:lpstr>
      <vt:lpstr>A* Search Solution Paths </vt:lpstr>
      <vt:lpstr>A* Performance Metrics</vt:lpstr>
      <vt:lpstr>Genetic Algorithm</vt:lpstr>
      <vt:lpstr>PowerPoint Presentation</vt:lpstr>
      <vt:lpstr>Genetic Algorithm Solution Paths </vt:lpstr>
      <vt:lpstr>Genetic Algorithm Performance Metrics</vt:lpstr>
      <vt:lpstr>PowerPoint Presentation</vt:lpstr>
      <vt:lpstr>PowerPoint Presentation</vt:lpstr>
      <vt:lpstr>PowerPoint Presentation</vt:lpstr>
      <vt:lpstr>Limitations &amp; Future Work</vt:lpstr>
      <vt:lpstr>Acknowledgments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Cazal Tirkey</cp:lastModifiedBy>
  <cp:revision>41</cp:revision>
  <dcterms:modified xsi:type="dcterms:W3CDTF">2026-04-27T02:47:41Z</dcterms:modified>
</cp:coreProperties>
</file>